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D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21792"/>
            <a:ext cx="960120" cy="960120"/>
          </a:xfrm>
          <a:prstGeom prst="roundRect">
            <a:avLst>
              <a:gd name="adj" fmla="val 11429"/>
            </a:avLst>
          </a:prstGeom>
          <a:solidFill>
            <a:srgbClr val="DDF0B5"/>
          </a:solidFill>
          <a:ln w="12700">
            <a:solidFill>
              <a:srgbClr val="DDF0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96112" y="82296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300" b="1" dirty="0">
                <a:solidFill>
                  <a:srgbClr val="102D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a.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40080" y="20116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100" b="1" spc="30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ATLAS</a:t>
            </a:r>
            <a:endParaRPr lang="en-US" sz="5100" dirty="0"/>
          </a:p>
        </p:txBody>
      </p:sp>
      <p:sp>
        <p:nvSpPr>
          <p:cNvPr id="5" name="Text 3"/>
          <p:cNvSpPr/>
          <p:nvPr/>
        </p:nvSpPr>
        <p:spPr>
          <a:xfrm>
            <a:off x="658368" y="315468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DDF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evidence layer for India’s GCC decisions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658368" y="416052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BFD0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 operates where. Which cities fit. What claims can be trusted.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58368" y="6126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A4B9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CONCEPT  ·  OCTOBER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oundRect">
            <a:avLst>
              <a:gd name="adj" fmla="val 100000"/>
            </a:avLst>
          </a:prstGeom>
          <a:solidFill>
            <a:srgbClr val="1E5044"/>
          </a:solidFill>
          <a:ln w="12700">
            <a:solidFill>
              <a:srgbClr val="1E5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E5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ATLAS  /  PRODUCT STRATEGY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738360" y="32004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97D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 CONTEXT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93268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72E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large market; a fragmented map.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94360" y="1728216"/>
            <a:ext cx="10652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97D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opportunity is not “another GCC report.” It is a repeatable, auditable decision workflow.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4360" y="6355080"/>
            <a:ext cx="11018520" cy="0"/>
          </a:xfrm>
          <a:prstGeom prst="line">
            <a:avLst/>
          </a:prstGeom>
          <a:noFill/>
          <a:ln w="12700">
            <a:solidFill>
              <a:srgbClr val="DCE7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647395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97D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FLEXIPLE  /  PRODUCT INTERN ASSIGNMENT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972800" y="6473952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97D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94360" y="2697480"/>
            <a:ext cx="2670048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" y="294436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E5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2,117</a:t>
            </a:r>
            <a:endParaRPr lang="en-US" sz="3100" dirty="0"/>
          </a:p>
        </p:txBody>
      </p:sp>
      <p:sp>
        <p:nvSpPr>
          <p:cNvPr id="12" name="Text 10"/>
          <p:cNvSpPr/>
          <p:nvPr/>
        </p:nvSpPr>
        <p:spPr>
          <a:xfrm>
            <a:off x="795528" y="35204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97D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GCC organizations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447288" y="2697480"/>
            <a:ext cx="2670048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48456" y="294436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E5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3,728</a:t>
            </a:r>
            <a:endParaRPr lang="en-US" sz="3100" dirty="0"/>
          </a:p>
        </p:txBody>
      </p:sp>
      <p:sp>
        <p:nvSpPr>
          <p:cNvPr id="15" name="Text 13"/>
          <p:cNvSpPr/>
          <p:nvPr/>
        </p:nvSpPr>
        <p:spPr>
          <a:xfrm>
            <a:off x="3648456" y="35204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97D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operating units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300216" y="2697480"/>
            <a:ext cx="2670048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01384" y="294436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E5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2.36M</a:t>
            </a:r>
            <a:endParaRPr lang="en-US" sz="3100" dirty="0"/>
          </a:p>
        </p:txBody>
      </p:sp>
      <p:sp>
        <p:nvSpPr>
          <p:cNvPr id="18" name="Text 16"/>
          <p:cNvSpPr/>
          <p:nvPr/>
        </p:nvSpPr>
        <p:spPr>
          <a:xfrm>
            <a:off x="6501384" y="35204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97D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employees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153144" y="2697480"/>
            <a:ext cx="2670048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54312" y="294436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E5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$98.4B</a:t>
            </a:r>
            <a:endParaRPr lang="en-US" sz="3100" dirty="0"/>
          </a:p>
        </p:txBody>
      </p:sp>
      <p:sp>
        <p:nvSpPr>
          <p:cNvPr id="21" name="Text 19"/>
          <p:cNvSpPr/>
          <p:nvPr/>
        </p:nvSpPr>
        <p:spPr>
          <a:xfrm>
            <a:off x="9354312" y="35204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97D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FY26 revenue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94360" y="4572000"/>
            <a:ext cx="11018520" cy="1042416"/>
          </a:xfrm>
          <a:prstGeom prst="roundRect">
            <a:avLst>
              <a:gd name="adj" fmla="val 10526"/>
            </a:avLst>
          </a:prstGeom>
          <a:solidFill>
            <a:srgbClr val="E8F2E4"/>
          </a:solidFill>
          <a:ln w="12700">
            <a:solidFill>
              <a:srgbClr val="E8F2E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8680" y="489204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E5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CRITICAL DISTINCTION: “GCC organizations” ≠ “GCC operating units.”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21792" y="594360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97D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Nasscom–Zinnov GCC Landscape 2026, FY2026. Links and methodology in appendix.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oundRect">
            <a:avLst>
              <a:gd name="adj" fmla="val 100000"/>
            </a:avLst>
          </a:prstGeom>
          <a:solidFill>
            <a:srgbClr val="1E5044"/>
          </a:solidFill>
          <a:ln w="12700">
            <a:solidFill>
              <a:srgbClr val="1E5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E5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ATLAS  /  PRODUCT STRATEGY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738360" y="32004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97D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93268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72E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exists. Decision-grade truth does not.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94360" y="1728216"/>
            <a:ext cx="10652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97D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market-entry buyer has to stitch together incompatible claims and unverifiable vendor narratives.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4360" y="6355080"/>
            <a:ext cx="11018520" cy="0"/>
          </a:xfrm>
          <a:prstGeom prst="line">
            <a:avLst/>
          </a:prstGeom>
          <a:noFill/>
          <a:ln w="12700">
            <a:solidFill>
              <a:srgbClr val="DCE7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647395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97D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FLEXIPLE  /  PRODUCT INTERN ASSIGNMENT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972800" y="6473952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97D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94360" y="2560320"/>
            <a:ext cx="347472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2779776"/>
            <a:ext cx="3054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E5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Fragmented sources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04672" y="3310128"/>
            <a:ext cx="3054096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72E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Filings, government policy pages, property research, consulting decks, business news and referrals.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343400" y="2560320"/>
            <a:ext cx="347472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53712" y="2779776"/>
            <a:ext cx="3054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E5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Misaligned definitions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553712" y="3310128"/>
            <a:ext cx="3054096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72E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Company vs operating unit. Announced vs launched. National totals vs city footprints.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092440" y="2560320"/>
            <a:ext cx="347472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02752" y="2779776"/>
            <a:ext cx="3054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E5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Weak proof of delivery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302752" y="3310128"/>
            <a:ext cx="3054096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72E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Vendor sites emphasize capabilities; outcome evidence and independent references are hard to compare.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oundRect">
            <a:avLst>
              <a:gd name="adj" fmla="val 100000"/>
            </a:avLst>
          </a:prstGeom>
          <a:solidFill>
            <a:srgbClr val="1E5044"/>
          </a:solidFill>
          <a:ln w="12700">
            <a:solidFill>
              <a:srgbClr val="1E5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E5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ATLAS  /  PRODUCT STRATEGY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738360" y="32004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97D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93268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72E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 feels the information asymmetry?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94360" y="1728216"/>
            <a:ext cx="10652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97D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first wedge needs urgent decisions, willingness to pay and repeatable evidence requirements.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4360" y="6355080"/>
            <a:ext cx="11018520" cy="0"/>
          </a:xfrm>
          <a:prstGeom prst="line">
            <a:avLst/>
          </a:prstGeom>
          <a:noFill/>
          <a:ln w="12700">
            <a:solidFill>
              <a:srgbClr val="DCE7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647395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97D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FLEXIPLE  /  PRODUCT INTERN ASSIGNMENT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972800" y="6473952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97D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94360" y="2450592"/>
            <a:ext cx="11018520" cy="694944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596896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2E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GLOBAL HQ / EXPANSION LEAD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251960" y="2596896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72E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 a location, setup model and first partners.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515600" y="259689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5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" y="3264408"/>
            <a:ext cx="11018520" cy="694944"/>
          </a:xfrm>
          <a:prstGeom prst="roundRect">
            <a:avLst>
              <a:gd name="adj" fmla="val 15789"/>
            </a:avLst>
          </a:prstGeom>
          <a:solidFill>
            <a:srgbClr val="EDF4ED"/>
          </a:solidFill>
          <a:ln w="12700">
            <a:solidFill>
              <a:srgbClr val="EDF4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41071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2E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GCC OPERATORS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251960" y="3410712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72E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Benchmark talent, capabilities and next-location options.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515600" y="341071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5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94360" y="4078224"/>
            <a:ext cx="11018520" cy="694944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4224528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2E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PROVIDERS &amp; ADVISORS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251960" y="422452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72E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Prove delivery, build qualified demand and differentiate.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515600" y="422452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5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MEDIUM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94360" y="4892040"/>
            <a:ext cx="11018520" cy="694944"/>
          </a:xfrm>
          <a:prstGeom prst="roundRect">
            <a:avLst>
              <a:gd name="adj" fmla="val 15789"/>
            </a:avLst>
          </a:prstGeom>
          <a:solidFill>
            <a:srgbClr val="EDF4ED"/>
          </a:solidFill>
          <a:ln w="12700">
            <a:solidFill>
              <a:srgbClr val="EDF4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5038344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2E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STATES, RESEARCHERS, INVESTORS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251960" y="5038344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72E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 clusters, policy and changing market signals.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515600" y="503834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5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MEDIUM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12648" y="5925312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5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Beachhead: global HQ strategy and market-entry teams considering a first or second India GCC.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oundRect">
            <a:avLst>
              <a:gd name="adj" fmla="val 100000"/>
            </a:avLst>
          </a:prstGeom>
          <a:solidFill>
            <a:srgbClr val="1E5044"/>
          </a:solidFill>
          <a:ln w="12700">
            <a:solidFill>
              <a:srgbClr val="1E5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E5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ATLAS  /  PRODUCT STRATEGY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738360" y="32004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97D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TODAY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93268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72E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costly workflow nobody owns end to end.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594360" y="6355080"/>
            <a:ext cx="11018520" cy="0"/>
          </a:xfrm>
          <a:prstGeom prst="line">
            <a:avLst/>
          </a:prstGeom>
          <a:noFill/>
          <a:ln w="12700">
            <a:solidFill>
              <a:srgbClr val="DCE7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47395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97D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FLEXIPLE  /  PRODUCT INTERN ASSIGNMENT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0" y="6473952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97D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94360" y="2423160"/>
            <a:ext cx="2670048" cy="2880360"/>
          </a:xfrm>
          <a:prstGeom prst="roundRect">
            <a:avLst>
              <a:gd name="adj" fmla="val 411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2670048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E5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04672" y="3319272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72E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cities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04672" y="3977640"/>
            <a:ext cx="2249424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97D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 reports and ask local advisors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447288" y="2423160"/>
            <a:ext cx="2670048" cy="2880360"/>
          </a:xfrm>
          <a:prstGeom prst="roundRect">
            <a:avLst>
              <a:gd name="adj" fmla="val 411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0" y="2670048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E5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57600" y="3319272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72E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 supply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3657600" y="3977640"/>
            <a:ext cx="2249424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97D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Commission fragmented salary and property research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300216" y="2423160"/>
            <a:ext cx="2670048" cy="2880360"/>
          </a:xfrm>
          <a:prstGeom prst="roundRect">
            <a:avLst>
              <a:gd name="adj" fmla="val 411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10528" y="2670048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E5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510528" y="3319272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72E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 partners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510528" y="3977640"/>
            <a:ext cx="2249424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97D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Rely on warm introductions and branded claims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153144" y="2423160"/>
            <a:ext cx="2670048" cy="2880360"/>
          </a:xfrm>
          <a:prstGeom prst="roundRect">
            <a:avLst>
              <a:gd name="adj" fmla="val 411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63456" y="2670048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E5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363456" y="3319272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72E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Defend choice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9363456" y="3977640"/>
            <a:ext cx="2249424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97D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Assemble spreadsheets and source links for leadership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0080" y="577900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97D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hypothesis: provenance + structured comparisons reduce rework and make decisions more defensible. No quantified savings claimed without field research.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oundRect">
            <a:avLst>
              <a:gd name="adj" fmla="val 100000"/>
            </a:avLst>
          </a:prstGeom>
          <a:solidFill>
            <a:srgbClr val="1E5044"/>
          </a:solidFill>
          <a:ln w="12700">
            <a:solidFill>
              <a:srgbClr val="1E5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E5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ATLAS  /  PRODUCT STRATEGY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738360" y="32004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97D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OPPORTUNITY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93268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72E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Prioritize the decision layer, not the data warehouse.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594360" y="6355080"/>
            <a:ext cx="11018520" cy="0"/>
          </a:xfrm>
          <a:prstGeom prst="line">
            <a:avLst/>
          </a:prstGeom>
          <a:noFill/>
          <a:ln w="12700">
            <a:solidFill>
              <a:srgbClr val="DCE7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47395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97D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FLEXIPLE  /  PRODUCT INTERN ASSIGNMENT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0" y="6473952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97D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94360" y="2395728"/>
            <a:ext cx="11000232" cy="713232"/>
          </a:xfrm>
          <a:prstGeom prst="roundRect">
            <a:avLst>
              <a:gd name="adj" fmla="val 15385"/>
            </a:avLst>
          </a:prstGeom>
          <a:solidFill>
            <a:srgbClr val="EAF3E5"/>
          </a:solidFill>
          <a:ln w="12700">
            <a:solidFill>
              <a:srgbClr val="EAF3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2587752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E5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572768" y="2551176"/>
            <a:ext cx="41148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2E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Verified directory + change log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833872" y="2578608"/>
            <a:ext cx="5394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97D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Foundation: entity definitions, evidence and freshness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4360" y="3218688"/>
            <a:ext cx="11000232" cy="713232"/>
          </a:xfrm>
          <a:prstGeom prst="roundRect">
            <a:avLst>
              <a:gd name="adj" fmla="val 15385"/>
            </a:avLst>
          </a:prstGeom>
          <a:solidFill>
            <a:srgbClr val="EAF3E5"/>
          </a:solidFill>
          <a:ln w="12700">
            <a:solidFill>
              <a:srgbClr val="EAF3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4672" y="3410712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E5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P1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572768" y="3374136"/>
            <a:ext cx="41148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2E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City comparison + decision brief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833872" y="3401568"/>
            <a:ext cx="5394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97D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Immediately useful for market-entry diligence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94360" y="4041648"/>
            <a:ext cx="11000232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4672" y="4233672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E5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572768" y="4197096"/>
            <a:ext cx="41148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2E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Verified partner evidence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833872" y="4224528"/>
            <a:ext cx="5394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97D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Better after we have trust and buyer demand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94360" y="4864608"/>
            <a:ext cx="11000232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4672" y="5056632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E5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572768" y="5020056"/>
            <a:ext cx="41148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2E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Talent, office and incentive feeds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833872" y="5047488"/>
            <a:ext cx="5394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97D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Valuable but licensing, update and QA costs are high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oundRect">
            <a:avLst>
              <a:gd name="adj" fmla="val 100000"/>
            </a:avLst>
          </a:prstGeom>
          <a:solidFill>
            <a:srgbClr val="1E5044"/>
          </a:solidFill>
          <a:ln w="12700">
            <a:solidFill>
              <a:srgbClr val="1E5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E5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ATLAS  /  PRODUCT STRATEGY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738360" y="32004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97D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PROPOSED SOLUTION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93268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72E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Atlas: discover → compare → decide.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94360" y="1728216"/>
            <a:ext cx="10652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97D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product-led workflow anchored to auditable evidence, not decorative dashboards.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4360" y="6355080"/>
            <a:ext cx="11018520" cy="0"/>
          </a:xfrm>
          <a:prstGeom prst="line">
            <a:avLst/>
          </a:prstGeom>
          <a:noFill/>
          <a:ln w="12700">
            <a:solidFill>
              <a:srgbClr val="DCE7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647395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97D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FLEXIPLE  /  PRODUCT INTERN ASSIGNMENT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972800" y="6473952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97D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94360" y="2423160"/>
            <a:ext cx="3493008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2642616"/>
            <a:ext cx="3072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E5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/ DISCOVER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04672" y="3172968"/>
            <a:ext cx="3072384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72E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 GCC records, inspect source links, and filter by geography, sector, operating model and verification status.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343400" y="2423160"/>
            <a:ext cx="3493008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53712" y="2642616"/>
            <a:ext cx="3072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E5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/ COMPARE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553712" y="3172968"/>
            <a:ext cx="3072384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72E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Inspect city footprint, evidence coverage, risks, cost and talent questions with clearly defined metrics.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101584" y="2423160"/>
            <a:ext cx="3493008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11896" y="2642616"/>
            <a:ext cx="3072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E5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/ DECIDE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311896" y="3172968"/>
            <a:ext cx="3072384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72E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 a citation-ready first-pass brief with uncertainties, shortlist logic, and next verification tasks.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oundRect">
            <a:avLst>
              <a:gd name="adj" fmla="val 100000"/>
            </a:avLst>
          </a:prstGeom>
          <a:solidFill>
            <a:srgbClr val="1E5044"/>
          </a:solidFill>
          <a:ln w="12700">
            <a:solidFill>
              <a:srgbClr val="1E5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E5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ATLAS  /  PRODUCT STRATEGY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738360" y="32004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97D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SCOPE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93268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72E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working prototype with deliberate boundaries.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594360" y="6355080"/>
            <a:ext cx="11018520" cy="0"/>
          </a:xfrm>
          <a:prstGeom prst="line">
            <a:avLst/>
          </a:prstGeom>
          <a:noFill/>
          <a:ln w="12700">
            <a:solidFill>
              <a:srgbClr val="DCE7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47395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97D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FLEXIPLE  /  PRODUCT INTERN ASSIGNMENT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0" y="6473952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97D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94360" y="2331720"/>
            <a:ext cx="11018520" cy="786384"/>
          </a:xfrm>
          <a:prstGeom prst="roundRect">
            <a:avLst>
              <a:gd name="adj" fmla="val 13953"/>
            </a:avLst>
          </a:prstGeom>
          <a:solidFill>
            <a:srgbClr val="EAF3E5"/>
          </a:solidFill>
          <a:ln w="12700">
            <a:solidFill>
              <a:srgbClr val="EAF3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2505456"/>
            <a:ext cx="2350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E5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WORKS NOW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172968" y="2459736"/>
            <a:ext cx="8001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72E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Five navigable views; search &amp; filters; city-to-city comparison; partner categories; downloadable decision memo.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94360" y="3255264"/>
            <a:ext cx="11018520" cy="786384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" y="3429000"/>
            <a:ext cx="2350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E5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REAL, SOURCED BASELINE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172968" y="3383280"/>
            <a:ext cx="8001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72E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FY2026 national metrics and rounded city GCC-unit counts link to Nasscom–Zinnov.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94360" y="4178808"/>
            <a:ext cx="11018520" cy="786384"/>
          </a:xfrm>
          <a:prstGeom prst="roundRect">
            <a:avLst>
              <a:gd name="adj" fmla="val 13953"/>
            </a:avLst>
          </a:prstGeom>
          <a:solidFill>
            <a:srgbClr val="EAF3E5"/>
          </a:solidFill>
          <a:ln w="12700">
            <a:solidFill>
              <a:srgbClr val="EAF3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" y="4352544"/>
            <a:ext cx="2350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E5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EXPLICITLY SYNTHETIC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172968" y="4306824"/>
            <a:ext cx="8001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72E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Company examples, partner categories, qualitative city signals and decision rules are marked as illustrative.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4360" y="5102352"/>
            <a:ext cx="11018520" cy="786384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4672" y="5276088"/>
            <a:ext cx="2350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E5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CLAIMED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172968" y="5230368"/>
            <a:ext cx="8001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72E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verified live company directory, paid data feeds, authentication, live vendor ratings or cost forecast.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oundRect">
            <a:avLst>
              <a:gd name="adj" fmla="val 100000"/>
            </a:avLst>
          </a:prstGeom>
          <a:solidFill>
            <a:srgbClr val="1E5044"/>
          </a:solidFill>
          <a:ln w="12700">
            <a:solidFill>
              <a:srgbClr val="1E5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E5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ATLAS  /  PRODUCT STRATEGY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738360" y="32004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97D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POSITIONING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93268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72E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 the evidence trail behind the decision.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94360" y="1728216"/>
            <a:ext cx="10652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97D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Compete on trust and workflow, not an unsupported claim to have “all GCC data.”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4360" y="6355080"/>
            <a:ext cx="11018520" cy="0"/>
          </a:xfrm>
          <a:prstGeom prst="line">
            <a:avLst/>
          </a:prstGeom>
          <a:noFill/>
          <a:ln w="12700">
            <a:solidFill>
              <a:srgbClr val="DCE7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647395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97D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FLEXIPLE  /  PRODUCT INTERN ASSIGNMENT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972800" y="6473952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97D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94360" y="2514600"/>
            <a:ext cx="5349240" cy="288036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2734056"/>
            <a:ext cx="4928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E5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Existing alternatives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04672" y="3264408"/>
            <a:ext cx="4928616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72E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Consultant reports: authoritative but periodic. Search and news: broad but unstructured. Referrals: high trust but hard to compare. Internal spreadsheets: flexible but stale.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72200" y="2514600"/>
            <a:ext cx="5394960" cy="288036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82512" y="2734056"/>
            <a:ext cx="4974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E5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Atlas advantage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382512" y="3264408"/>
            <a:ext cx="4974336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72E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consistent entity model; claim-level source provenance; last-verified dates; readable comparisons; executive-ready output; correction and verification paths.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oundRect">
            <a:avLst>
              <a:gd name="adj" fmla="val 100000"/>
            </a:avLst>
          </a:prstGeom>
          <a:solidFill>
            <a:srgbClr val="1E5044"/>
          </a:solidFill>
          <a:ln w="12700">
            <a:solidFill>
              <a:srgbClr val="1E5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E5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ATLAS  /  PRODUCT STRATEGY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738360" y="32004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97D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&amp; TRUST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93268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72E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narrow wedge can grow into a network.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594360" y="6355080"/>
            <a:ext cx="11018520" cy="0"/>
          </a:xfrm>
          <a:prstGeom prst="line">
            <a:avLst/>
          </a:prstGeom>
          <a:noFill/>
          <a:ln w="12700">
            <a:solidFill>
              <a:srgbClr val="DCE7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47395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97D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FLEXIPLE  /  PRODUCT INTERN ASSIGNMENT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0" y="6473952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97D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94360" y="2331720"/>
            <a:ext cx="3493008" cy="3063240"/>
          </a:xfrm>
          <a:prstGeom prst="roundRect">
            <a:avLst>
              <a:gd name="adj" fmla="val 35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2551176"/>
            <a:ext cx="3072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E5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Acquire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04672" y="3081528"/>
            <a:ext cx="3072384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72E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Free, source-attributed market views and search-friendly research; direct outreach to expansion and GCC strategy teams.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43400" y="2331720"/>
            <a:ext cx="3493008" cy="3063240"/>
          </a:xfrm>
          <a:prstGeom prst="roundRect">
            <a:avLst>
              <a:gd name="adj" fmla="val 35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53712" y="2551176"/>
            <a:ext cx="3072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E5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Monetize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553712" y="3081528"/>
            <a:ext cx="3072384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72E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research workspace, exportable diligence packs and change alerts; trial with research teams before pricing.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092440" y="2331720"/>
            <a:ext cx="3493008" cy="3063240"/>
          </a:xfrm>
          <a:prstGeom prst="roundRect">
            <a:avLst>
              <a:gd name="adj" fmla="val 35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02752" y="2551176"/>
            <a:ext cx="3072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E5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Defend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302752" y="3081528"/>
            <a:ext cx="3072384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72E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Versioned evidence graph, analyst verification, transparent vendor proof and feedback loops—not scraped listings alone.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oundRect">
            <a:avLst>
              <a:gd name="adj" fmla="val 100000"/>
            </a:avLst>
          </a:prstGeom>
          <a:solidFill>
            <a:srgbClr val="1E5044"/>
          </a:solidFill>
          <a:ln w="12700">
            <a:solidFill>
              <a:srgbClr val="1E5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E5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ATLAS  /  PRODUCT STRATEGY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738360" y="32004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97D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ROADMAP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93268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72E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90-day validation and build sequence.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594360" y="6355080"/>
            <a:ext cx="11018520" cy="0"/>
          </a:xfrm>
          <a:prstGeom prst="line">
            <a:avLst/>
          </a:prstGeom>
          <a:noFill/>
          <a:ln w="12700">
            <a:solidFill>
              <a:srgbClr val="DCE7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47395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97D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FLEXIPLE  /  PRODUCT INTERN ASSIGNMENT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0" y="6473952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97D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94360" y="2432304"/>
            <a:ext cx="11018520" cy="941832"/>
          </a:xfrm>
          <a:prstGeom prst="roundRect">
            <a:avLst>
              <a:gd name="adj" fmla="val 116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0392" y="2688336"/>
            <a:ext cx="2057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E5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DAYS 1–30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2907792" y="2615184"/>
            <a:ext cx="81381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72E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Interview 12–15 target buyers; map 3 live city-selection workflows; validate sources, licensing and definitions.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94360" y="3493008"/>
            <a:ext cx="11018520" cy="941832"/>
          </a:xfrm>
          <a:prstGeom prst="roundRect">
            <a:avLst>
              <a:gd name="adj" fmla="val 116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392" y="3749040"/>
            <a:ext cx="2057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E5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DAYS 31–60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2907792" y="3675888"/>
            <a:ext cx="81381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72E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controlled entity schema; verify first 100 records; test paid brief pilot with 5 teams.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94360" y="4553712"/>
            <a:ext cx="11018520" cy="941832"/>
          </a:xfrm>
          <a:prstGeom prst="roundRect">
            <a:avLst>
              <a:gd name="adj" fmla="val 116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0392" y="4809744"/>
            <a:ext cx="2057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E5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DAYS 61–90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2907792" y="4736592"/>
            <a:ext cx="81381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72E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Ship change logs and diligence sharing; measure weekly return usage, corrections and brief completion.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9224" y="5833872"/>
            <a:ext cx="108082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97D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North-star candidate: verified decisions supported per active buying team; guardrails: source coverage, correction time and customer trust.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oundRect">
            <a:avLst>
              <a:gd name="adj" fmla="val 100000"/>
            </a:avLst>
          </a:prstGeom>
          <a:solidFill>
            <a:srgbClr val="1E5044"/>
          </a:solidFill>
          <a:ln w="12700">
            <a:solidFill>
              <a:srgbClr val="1E5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E5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ATLAS  /  PRODUCT STRATEGY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738360" y="32004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97D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 &amp; DISCLOSURE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93268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72E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provenance and honest prototype scope.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594360" y="6355080"/>
            <a:ext cx="11018520" cy="0"/>
          </a:xfrm>
          <a:prstGeom prst="line">
            <a:avLst/>
          </a:prstGeom>
          <a:noFill/>
          <a:ln w="12700">
            <a:solidFill>
              <a:srgbClr val="DCE7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47395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97D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FLEXIPLE  /  PRODUCT INTERN ASSIGNMENT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0" y="6473952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97D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94944" y="2331720"/>
            <a:ext cx="10698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E5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Nasscom–Zinnov FY2026 landscape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94944" y="2642616"/>
            <a:ext cx="10698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97D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https://zinnov.com/centers-of-excellence/zinnov-nasscom-india-gcc-landscape-2026-report/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94944" y="3108960"/>
            <a:ext cx="10698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E5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Nasscom–Zinnov report PDF / city exhibit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94944" y="3419856"/>
            <a:ext cx="10698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97D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https://media.zinnov.com/wp-content/uploads/2026/05/zinnov-nasscom-india-gcc-landscape-2026-report.pdf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94944" y="3886200"/>
            <a:ext cx="10698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E5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Flexiple GCC statistics / definition caveats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94944" y="4197096"/>
            <a:ext cx="10698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97D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https://flexiple.com/gcc/statistics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1792" y="5029200"/>
            <a:ext cx="11000232" cy="850392"/>
          </a:xfrm>
          <a:prstGeom prst="roundRect">
            <a:avLst>
              <a:gd name="adj" fmla="val 12903"/>
            </a:avLst>
          </a:prstGeom>
          <a:solidFill>
            <a:srgbClr val="EAF3E5"/>
          </a:solidFill>
          <a:ln w="12700">
            <a:solidFill>
              <a:srgbClr val="EAF3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7824" y="5239512"/>
            <a:ext cx="104698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E5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Prototype company entries and provider categories are fictional examples. Qualitative city characterizations and scores are demo hypotheses, not factual research claims.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Atlas | A decision layer for India’s GCC ecosystem</dc:title>
  <dc:subject>Flexiple Product Intern assignment</dc:subject>
  <dc:creator>Atlas product concept</dc:creator>
  <cp:lastModifiedBy>Atlas product concept</cp:lastModifiedBy>
  <cp:revision>1</cp:revision>
  <dcterms:created xsi:type="dcterms:W3CDTF">2026-10-18T13:27:51Z</dcterms:created>
  <dcterms:modified xsi:type="dcterms:W3CDTF">2026-10-18T13:27:51Z</dcterms:modified>
</cp:coreProperties>
</file>